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777240"/>
            <a:ext cx="3474720" cy="384048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FINAL INTERNSHIP DEFENSE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600" b="1">
                <a:solidFill>
                  <a:srgbClr val="FFFFFF"/>
                </a:solidFill>
                <a:latin typeface="Arial"/>
              </a:defRPr>
            </a:pPr>
            <a:r>
              <a:t>MarketPilot AI</a:t>
            </a:r>
          </a:p>
          <a:p>
            <a:pPr>
              <a:defRPr sz="2100" b="0">
                <a:solidFill>
                  <a:srgbClr val="A7F3D0"/>
                </a:solidFill>
                <a:latin typeface="Arial"/>
              </a:defRPr>
            </a:pPr>
            <a:r>
              <a:t>Autonomous E-Commerce Marketing Platform &amp; Agentic Campaign Orchestration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749039"/>
            <a:ext cx="502920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93192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CANDIDATE INFORMATION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Danish Riaz</a:t>
            </a:r>
          </a:p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BS Computer Science (Final Year)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Quaid-i-Azam University (QAU), Islamabad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02920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393192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SUPERVISION &amp; STACK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Host: NESCOM</a:t>
            </a:r>
          </a:p>
          <a:p>
            <a:pPr>
              <a:defRPr sz="1300">
                <a:solidFill>
                  <a:srgbClr val="34D399"/>
                </a:solidFill>
                <a:latin typeface="Arial"/>
              </a:defRPr>
            </a:pPr>
            <a:r>
              <a:t>Coordinator: Dr. Inayatullah Khan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Stack: React 18 • FastAPI • Supabase RLS • Gemini 2.5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29184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47857"/>
                </a:solidFill>
                <a:latin typeface="Arial"/>
              </a:defRPr>
            </a:pPr>
            <a:r>
              <a:t>01. PROBLEM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Arial"/>
              </a:defRPr>
            </a:pPr>
            <a:r>
              <a:t>E-Commerce Bottlenecks in Emerging Markets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Why traditional manual marketing workflows fail modern digital retail merchants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1792224"/>
            <a:ext cx="950976" cy="23774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900" b="1">
                <a:solidFill>
                  <a:srgbClr val="047857"/>
                </a:solidFill>
                <a:latin typeface="Arial"/>
              </a:defRPr>
            </a:pPr>
            <a:r>
              <a:t>CRITICAL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66544"/>
            <a:ext cx="4718304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Attention Economy Crisis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2423160"/>
            <a:ext cx="4718304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14600"/>
            <a:ext cx="4718304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Rapid Proliferation of Local D2C Stores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Decaying Organic Reach on Social Feeds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Daily Content Drops Imperative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10528" y="1792224"/>
            <a:ext cx="1316736" cy="23774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900" b="1">
                <a:solidFill>
                  <a:srgbClr val="047857"/>
                </a:solidFill>
                <a:latin typeface="Arial"/>
              </a:defRPr>
            </a:pPr>
            <a:r>
              <a:t>COST FRICTION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066544"/>
            <a:ext cx="4718304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Creative Burnout &amp; Agency Costs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10528" y="2423160"/>
            <a:ext cx="4718304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514600"/>
            <a:ext cx="4718304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15+ Hours Spent Weekly on Scriptwriting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Expensive Outsourced Advertising Retainers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Slow Turnaround for Viral Trend Jacking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605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4306824"/>
            <a:ext cx="1243584" cy="23774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900" b="1">
                <a:solidFill>
                  <a:srgbClr val="047857"/>
                </a:solidFill>
                <a:latin typeface="Arial"/>
              </a:defRPr>
            </a:pPr>
            <a:r>
              <a:t>CAPITAL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581144"/>
            <a:ext cx="4718304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Margin Blindness &amp; Ad Losses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937760"/>
            <a:ext cx="4718304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029200"/>
            <a:ext cx="4718304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Zero Profit-Margin Consideration in Ad Tools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Paid Ads Running on Negative-Margin SKUs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High Commercial Store Failure 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1605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10528" y="4306824"/>
            <a:ext cx="1243584" cy="23774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900" b="1">
                <a:solidFill>
                  <a:srgbClr val="047857"/>
                </a:solidFill>
                <a:latin typeface="Arial"/>
              </a:defRPr>
            </a:pPr>
            <a:r>
              <a:t>LOCALIZATION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4581144"/>
            <a:ext cx="4718304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Linguistic &amp; Regional Deficit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0528" y="4937760"/>
            <a:ext cx="4718304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5029200"/>
            <a:ext cx="4718304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Generic Western English Ad Copy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Lack of Roman Urdu &amp; Regional Dialects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Missed South Asian Buyer Emotional Triggers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29184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47857"/>
                </a:solidFill>
                <a:latin typeface="Arial"/>
              </a:defRPr>
            </a:pPr>
            <a:r>
              <a:t>02.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Arial"/>
              </a:defRPr>
            </a:pPr>
            <a:r>
              <a:t>MarketPilot AI: The Autonomous Marketing Copilot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An intelligent agentic platform unifying catalog economics, live trends, and localized copy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852160" cy="1499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1755648"/>
            <a:ext cx="1097280" cy="2194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850" b="1">
                <a:solidFill>
                  <a:srgbClr val="047857"/>
                </a:solidFill>
                <a:latin typeface="Arial"/>
              </a:defRPr>
            </a:pPr>
            <a:r>
              <a:t>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93392"/>
            <a:ext cx="5522976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Autonomous Closed-Loop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304288"/>
            <a:ext cx="55229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59152"/>
            <a:ext cx="5522976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Zero-Copywriting Manual Friction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Direct Inventory-to-Campaign Dispatch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5852160" cy="1499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3383280"/>
            <a:ext cx="1243584" cy="2194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850" b="1">
                <a:solidFill>
                  <a:srgbClr val="047857"/>
                </a:solidFill>
                <a:latin typeface="Arial"/>
              </a:defRPr>
            </a:pPr>
            <a:r>
              <a:t>PROFIT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621024"/>
            <a:ext cx="5522976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Margin-Grounded Strategy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931920"/>
            <a:ext cx="55229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986784"/>
            <a:ext cx="5522976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Strict SKU Profit Margin Guardrails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Automatic High-Margin Prioritization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01184"/>
            <a:ext cx="5852160" cy="1499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5010912"/>
            <a:ext cx="1024128" cy="2194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850" b="1">
                <a:solidFill>
                  <a:srgbClr val="047857"/>
                </a:solidFill>
                <a:latin typeface="Arial"/>
              </a:defRPr>
            </a:pPr>
            <a:r>
              <a:t>BILINGUAL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248656"/>
            <a:ext cx="5522976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Hyper-Localized Regional Synthesis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5559552"/>
            <a:ext cx="55229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614416"/>
            <a:ext cx="5522976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Dual Roman Urdu &amp; Nastaliq Generation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Culturally Nuanced Viral Video Hooks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1645920"/>
            <a:ext cx="4572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i_agent_bot_17902233957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755648"/>
            <a:ext cx="4297680" cy="429768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132320" y="6016752"/>
            <a:ext cx="402336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/>
          <a:lstStyle/>
          <a:p>
            <a:pPr algn="ctr">
              <a:defRPr sz="950" b="1">
                <a:solidFill>
                  <a:srgbClr val="047857"/>
                </a:solidFill>
                <a:latin typeface="Arial"/>
              </a:defRPr>
            </a:pPr>
            <a:r>
              <a:t>AUTONOMOUS AI AGENT CORE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29184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47857"/>
                </a:solidFill>
                <a:latin typeface="Arial"/>
              </a:defRPr>
            </a:pPr>
            <a:r>
              <a:t>03. AGENTIC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Arial"/>
              </a:defRPr>
            </a:pPr>
            <a:r>
              <a:t>Autonomous 5-Phase Execution Lifecycle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Deterministic end-to-end flow from raw catalog ingestion to scheduled multichannel dispatch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2996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1755648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47857"/>
                </a:solidFill>
                <a:latin typeface="Arial"/>
              </a:defRPr>
            </a:pPr>
            <a:r>
              <a:t>PHASE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94560"/>
            <a:ext cx="1810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Arial"/>
              </a:defRPr>
            </a:pPr>
            <a:r>
              <a:t>Catalog Ingestion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926080"/>
            <a:ext cx="1755648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063240"/>
            <a:ext cx="18105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</a:t>
            </a:r>
            <a:r>
              <a:rPr sz="1150" b="1">
                <a:solidFill>
                  <a:srgbClr val="0F172A"/>
                </a:solidFill>
                <a:latin typeface="Arial"/>
              </a:rPr>
              <a:t>Supabase Realtime Sync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</a:t>
            </a:r>
            <a:r>
              <a:rPr sz="1150" b="1">
                <a:solidFill>
                  <a:srgbClr val="0F172A"/>
                </a:solidFill>
                <a:latin typeface="Arial"/>
              </a:rPr>
              <a:t>Margin Tier Tagging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</a:t>
            </a:r>
            <a:r>
              <a:rPr sz="1150" b="1">
                <a:solidFill>
                  <a:srgbClr val="0F172A"/>
                </a:solidFill>
                <a:latin typeface="Arial"/>
              </a:rPr>
              <a:t>Active Inventory Audit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1645920"/>
            <a:ext cx="202996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44952" y="1783080"/>
            <a:ext cx="1755648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47857"/>
                </a:solidFill>
                <a:latin typeface="Arial"/>
              </a:defRPr>
            </a:pPr>
            <a:r>
              <a:t>PHASE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194560"/>
            <a:ext cx="1810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Arial"/>
              </a:defRPr>
            </a:pPr>
            <a:r>
              <a:t>Trend Radar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44952" y="2926080"/>
            <a:ext cx="1755648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3063240"/>
            <a:ext cx="18105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</a:t>
            </a:r>
            <a:r>
              <a:rPr sz="1150" b="1">
                <a:solidFill>
                  <a:srgbClr val="0F172A"/>
                </a:solidFill>
                <a:latin typeface="Arial"/>
              </a:rPr>
              <a:t>Social Signal Scraping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</a:t>
            </a:r>
            <a:r>
              <a:rPr sz="1150" b="1">
                <a:solidFill>
                  <a:srgbClr val="0F172A"/>
                </a:solidFill>
                <a:latin typeface="Arial"/>
              </a:rPr>
              <a:t>Momentum Velocity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</a:t>
            </a:r>
            <a:r>
              <a:rPr sz="1150" b="1">
                <a:solidFill>
                  <a:srgbClr val="0F172A"/>
                </a:solidFill>
                <a:latin typeface="Arial"/>
              </a:rPr>
              <a:t>Breakout Narrative Audio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1645920"/>
            <a:ext cx="2029968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21224" y="1783080"/>
            <a:ext cx="1755648" cy="292608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PHASE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2194560"/>
            <a:ext cx="1810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Arial"/>
              </a:defRPr>
            </a:pPr>
            <a:r>
              <a:t>Strategy Planner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21224" y="2926080"/>
            <a:ext cx="1755648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3792" y="3063240"/>
            <a:ext cx="18105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</a:t>
            </a:r>
            <a:r>
              <a:rPr sz="1150" b="1">
                <a:solidFill>
                  <a:srgbClr val="0F172A"/>
                </a:solidFill>
                <a:latin typeface="Arial"/>
              </a:rPr>
              <a:t>4-Pillar Campaign Matrix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</a:t>
            </a:r>
            <a:r>
              <a:rPr sz="1150" b="1">
                <a:solidFill>
                  <a:srgbClr val="0F172A"/>
                </a:solidFill>
                <a:latin typeface="Arial"/>
              </a:rPr>
              <a:t>Algorithmic SKU Pairing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</a:t>
            </a:r>
            <a:r>
              <a:rPr sz="1150" b="1">
                <a:solidFill>
                  <a:srgbClr val="0F172A"/>
                </a:solidFill>
                <a:latin typeface="Arial"/>
              </a:rPr>
              <a:t>Targeted Audience Logic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0336" y="1645920"/>
            <a:ext cx="202996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97496" y="1783080"/>
            <a:ext cx="1755648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47857"/>
                </a:solidFill>
                <a:latin typeface="Arial"/>
              </a:defRPr>
            </a:pPr>
            <a:r>
              <a:t>PHASE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0064" y="2194560"/>
            <a:ext cx="1810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Arial"/>
              </a:defRPr>
            </a:pPr>
            <a:r>
              <a:t>Creative Studio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97496" y="2926080"/>
            <a:ext cx="1755648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0064" y="3063240"/>
            <a:ext cx="18105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</a:t>
            </a:r>
            <a:r>
              <a:rPr sz="1150" b="1">
                <a:solidFill>
                  <a:srgbClr val="0F172A"/>
                </a:solidFill>
                <a:latin typeface="Arial"/>
              </a:rPr>
              <a:t>3-Second Hook Generation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</a:t>
            </a:r>
            <a:r>
              <a:rPr sz="1150" b="1">
                <a:solidFill>
                  <a:srgbClr val="0F172A"/>
                </a:solidFill>
                <a:latin typeface="Arial"/>
              </a:rPr>
              <a:t>Dual-Language Scripts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</a:t>
            </a:r>
            <a:r>
              <a:rPr sz="1150" b="1">
                <a:solidFill>
                  <a:srgbClr val="0F172A"/>
                </a:solidFill>
                <a:latin typeface="Arial"/>
              </a:rPr>
              <a:t>Visual Directing Cues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36608" y="1645920"/>
            <a:ext cx="202996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73768" y="1783080"/>
            <a:ext cx="1755648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47857"/>
                </a:solidFill>
                <a:latin typeface="Arial"/>
              </a:defRPr>
            </a:pPr>
            <a:r>
              <a:t>PHASE 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6" y="2194560"/>
            <a:ext cx="1810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Arial"/>
              </a:defRPr>
            </a:pPr>
            <a:r>
              <a:t>Cadence Dispatch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73768" y="2926080"/>
            <a:ext cx="1755648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46336" y="3063240"/>
            <a:ext cx="18105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</a:t>
            </a:r>
            <a:r>
              <a:rPr sz="1150" b="1">
                <a:solidFill>
                  <a:srgbClr val="0F172A"/>
                </a:solidFill>
                <a:latin typeface="Arial"/>
              </a:rPr>
              <a:t>70/20/10 Balance Meter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</a:t>
            </a:r>
            <a:r>
              <a:rPr sz="1150" b="1">
                <a:solidFill>
                  <a:srgbClr val="0F172A"/>
                </a:solidFill>
                <a:latin typeface="Arial"/>
              </a:rPr>
              <a:t>Fatigue Saturation Guard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</a:t>
            </a:r>
            <a:r>
              <a:rPr sz="1150" b="1">
                <a:solidFill>
                  <a:srgbClr val="0F172A"/>
                </a:solidFill>
                <a:latin typeface="Arial"/>
              </a:rPr>
              <a:t>Unified Social Calendar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29184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47857"/>
                </a:solidFill>
                <a:latin typeface="Arial"/>
              </a:defRPr>
            </a:pPr>
            <a:r>
              <a:t>04.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Arial"/>
              </a:defRPr>
            </a:pPr>
            <a:r>
              <a:t>Decoupled Three-Tier System Architecture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High-concurrency, asynchronous, and strictly typed enterprise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306324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47857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Presentation Layer</a:t>
            </a:r>
          </a:p>
          <a:p>
            <a:pPr>
              <a:defRPr sz="1200" b="1">
                <a:solidFill>
                  <a:srgbClr val="047857"/>
                </a:solidFill>
                <a:latin typeface="Arial"/>
              </a:defRPr>
            </a:pPr>
            <a:r>
              <a:t>React 18 &amp; Vite Ecosystem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063240"/>
            <a:ext cx="3063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3063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50" b="1">
                <a:solidFill>
                  <a:srgbClr val="059669"/>
                </a:solidFill>
                <a:latin typeface="Arial"/>
              </a:rPr>
              <a:t>✦  </a:t>
            </a:r>
            <a:r>
              <a:rPr sz="1300" b="1">
                <a:solidFill>
                  <a:srgbClr val="0F172A"/>
                </a:solidFill>
                <a:latin typeface="Arial"/>
              </a:rPr>
              <a:t>TypeScript Static Type Safety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50" b="1">
                <a:solidFill>
                  <a:srgbClr val="059669"/>
                </a:solidFill>
                <a:latin typeface="Arial"/>
              </a:rPr>
              <a:t>✦  </a:t>
            </a:r>
            <a:r>
              <a:rPr sz="1300" b="1">
                <a:solidFill>
                  <a:srgbClr val="0F172A"/>
                </a:solidFill>
                <a:latin typeface="Arial"/>
              </a:rPr>
              <a:t>Tailwind CSS Component Architecture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50" b="1">
                <a:solidFill>
                  <a:srgbClr val="059669"/>
                </a:solidFill>
                <a:latin typeface="Arial"/>
              </a:rPr>
              <a:t>✦  </a:t>
            </a:r>
            <a:r>
              <a:rPr sz="1300" b="1">
                <a:solidFill>
                  <a:srgbClr val="0F172A"/>
                </a:solidFill>
                <a:latin typeface="Arial"/>
              </a:rPr>
              <a:t>Context-Preserving SPA Routing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50" b="1">
                <a:solidFill>
                  <a:srgbClr val="059669"/>
                </a:solidFill>
                <a:latin typeface="Arial"/>
              </a:rPr>
              <a:t>✦  </a:t>
            </a:r>
            <a:r>
              <a:rPr sz="1300" b="1">
                <a:solidFill>
                  <a:srgbClr val="0F172A"/>
                </a:solidFill>
                <a:latin typeface="Arial"/>
              </a:rPr>
              <a:t>Responsive Bento Grid Layouts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645920"/>
            <a:ext cx="3429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62856" y="1828800"/>
            <a:ext cx="306324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47857"/>
                </a:solidFill>
                <a:latin typeface="Arial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2402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Application Layer</a:t>
            </a:r>
          </a:p>
          <a:p>
            <a:pPr>
              <a:defRPr sz="1200" b="1">
                <a:solidFill>
                  <a:srgbClr val="047857"/>
                </a:solidFill>
                <a:latin typeface="Arial"/>
              </a:defRPr>
            </a:pPr>
            <a:r>
              <a:t>FastAPI &amp; Python 3.12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62856" y="3063240"/>
            <a:ext cx="3063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3200400"/>
            <a:ext cx="3063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50" b="1">
                <a:solidFill>
                  <a:srgbClr val="059669"/>
                </a:solidFill>
                <a:latin typeface="Arial"/>
              </a:rPr>
              <a:t>✦  </a:t>
            </a:r>
            <a:r>
              <a:rPr sz="1300" b="1">
                <a:solidFill>
                  <a:srgbClr val="0F172A"/>
                </a:solidFill>
                <a:latin typeface="Arial"/>
              </a:rPr>
              <a:t>Non-Blocking AsyncIO Web Handlers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50" b="1">
                <a:solidFill>
                  <a:srgbClr val="059669"/>
                </a:solidFill>
                <a:latin typeface="Arial"/>
              </a:rPr>
              <a:t>✦  </a:t>
            </a:r>
            <a:r>
              <a:rPr sz="1300" b="1">
                <a:solidFill>
                  <a:srgbClr val="0F172A"/>
                </a:solidFill>
                <a:latin typeface="Arial"/>
              </a:rPr>
              <a:t>Pydantic v2 Contract Validation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50" b="1">
                <a:solidFill>
                  <a:srgbClr val="059669"/>
                </a:solidFill>
                <a:latin typeface="Arial"/>
              </a:rPr>
              <a:t>✦  </a:t>
            </a:r>
            <a:r>
              <a:rPr sz="1300" b="1">
                <a:solidFill>
                  <a:srgbClr val="0F172A"/>
                </a:solidFill>
                <a:latin typeface="Arial"/>
              </a:rPr>
              <a:t>Modular Router Decomposition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50" b="1">
                <a:solidFill>
                  <a:srgbClr val="059669"/>
                </a:solidFill>
                <a:latin typeface="Arial"/>
              </a:rPr>
              <a:t>✦  </a:t>
            </a:r>
            <a:r>
              <a:rPr sz="1300" b="1">
                <a:solidFill>
                  <a:srgbClr val="0F172A"/>
                </a:solidFill>
                <a:latin typeface="Arial"/>
              </a:rPr>
              <a:t>Fault-Tolerant Error Handling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1645920"/>
            <a:ext cx="3429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11312" y="1828800"/>
            <a:ext cx="306324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47857"/>
                </a:solidFill>
                <a:latin typeface="Arial"/>
              </a:defRPr>
            </a:pPr>
            <a:r>
              <a:t>DATABASE &amp;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2402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Data &amp; AI Layer</a:t>
            </a:r>
          </a:p>
          <a:p>
            <a:pPr>
              <a:defRPr sz="1200" b="1">
                <a:solidFill>
                  <a:srgbClr val="047857"/>
                </a:solidFill>
                <a:latin typeface="Arial"/>
              </a:defRPr>
            </a:pPr>
            <a:r>
              <a:t>Supabase &amp; Gemini 2.5 Flash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11312" y="3063240"/>
            <a:ext cx="3063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3200400"/>
            <a:ext cx="3063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50" b="1">
                <a:solidFill>
                  <a:srgbClr val="059669"/>
                </a:solidFill>
                <a:latin typeface="Arial"/>
              </a:rPr>
              <a:t>✦  </a:t>
            </a:r>
            <a:r>
              <a:rPr sz="1300" b="1">
                <a:solidFill>
                  <a:srgbClr val="0F172A"/>
                </a:solidFill>
                <a:latin typeface="Arial"/>
              </a:rPr>
              <a:t>PostgreSQL Database Kernel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50" b="1">
                <a:solidFill>
                  <a:srgbClr val="059669"/>
                </a:solidFill>
                <a:latin typeface="Arial"/>
              </a:rPr>
              <a:t>✦  </a:t>
            </a:r>
            <a:r>
              <a:rPr sz="1300" b="1">
                <a:solidFill>
                  <a:srgbClr val="0F172A"/>
                </a:solidFill>
                <a:latin typeface="Arial"/>
              </a:rPr>
              <a:t>Row Level Security (RLS) Isolation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50" b="1">
                <a:solidFill>
                  <a:srgbClr val="059669"/>
                </a:solidFill>
                <a:latin typeface="Arial"/>
              </a:rPr>
              <a:t>✦  </a:t>
            </a:r>
            <a:r>
              <a:rPr sz="1300" b="1">
                <a:solidFill>
                  <a:srgbClr val="0F172A"/>
                </a:solidFill>
                <a:latin typeface="Arial"/>
              </a:rPr>
              <a:t>Structured Deterministic JSON Schemas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50" b="1">
                <a:solidFill>
                  <a:srgbClr val="059669"/>
                </a:solidFill>
                <a:latin typeface="Arial"/>
              </a:rPr>
              <a:t>✦  </a:t>
            </a:r>
            <a:r>
              <a:rPr sz="1300" b="1">
                <a:solidFill>
                  <a:srgbClr val="0F172A"/>
                </a:solidFill>
                <a:latin typeface="Arial"/>
              </a:rPr>
              <a:t>Zero-Mock Production Guardrails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29184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47857"/>
                </a:solidFill>
                <a:latin typeface="Arial"/>
              </a:defRPr>
            </a:pPr>
            <a:r>
              <a:t>05. CORE MODULES: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Arial"/>
              </a:defRPr>
            </a:pPr>
            <a:r>
              <a:t>Zero-Trust Authentication &amp; 6-Digit Email OTP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Production-grade multi-tenant identity without external link redirects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852160" cy="1499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1755648"/>
            <a:ext cx="1243584" cy="2194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850" b="1">
                <a:solidFill>
                  <a:srgbClr val="047857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93392"/>
            <a:ext cx="5522976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Cryptographic 6-Digit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304288"/>
            <a:ext cx="55229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59152"/>
            <a:ext cx="5522976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Authentic Gmail Verification Dispatch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Zero Mock Bypass Endpoints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5852160" cy="1499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3383280"/>
            <a:ext cx="877824" cy="2194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850" b="1">
                <a:solidFill>
                  <a:srgbClr val="047857"/>
                </a:solidFill>
                <a:latin typeface="Arial"/>
              </a:defRPr>
            </a:pPr>
            <a:r>
              <a:t>DEFENSE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621024"/>
            <a:ext cx="5522976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Anti-Spam Throttling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931920"/>
            <a:ext cx="55229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986784"/>
            <a:ext cx="5522976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60-Second UI Resend Lockout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Rate-Limiting Attack Mitigation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01184"/>
            <a:ext cx="5852160" cy="1499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5010912"/>
            <a:ext cx="950976" cy="2194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850" b="1">
                <a:solidFill>
                  <a:srgbClr val="047857"/>
                </a:solidFill>
                <a:latin typeface="Arial"/>
              </a:defRPr>
            </a:pPr>
            <a:r>
              <a:t>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248656"/>
            <a:ext cx="5522976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PostgreSQL Kernel RLS Isolation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5559552"/>
            <a:ext cx="55229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614416"/>
            <a:ext cx="5522976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Strict auth.uid() = user_id Policy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Zero 3rd-Party Tracking Exposure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1645920"/>
            <a:ext cx="4572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ecurity_otp_shield_17902234539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755648"/>
            <a:ext cx="4297680" cy="429768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132320" y="6016752"/>
            <a:ext cx="402336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/>
          <a:lstStyle/>
          <a:p>
            <a:pPr algn="ctr">
              <a:defRPr sz="950" b="1">
                <a:solidFill>
                  <a:srgbClr val="047857"/>
                </a:solidFill>
                <a:latin typeface="Arial"/>
              </a:defRPr>
            </a:pPr>
            <a:r>
              <a:t>PRODUCTION CRYPTOGRAPHIC OTP PROTOCOL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29184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47857"/>
                </a:solidFill>
                <a:latin typeface="Arial"/>
              </a:defRPr>
            </a:pPr>
            <a:r>
              <a:t>06. CORE MODULES: COMMAND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Arial"/>
              </a:defRPr>
            </a:pPr>
            <a:r>
              <a:t>Executive Dashboard &amp; Real-Time KPI Telemetry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Unified operational visibility consolidating catalog economics, campaign pipeline, and trends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1792224"/>
            <a:ext cx="1389888" cy="23774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900" b="1">
                <a:solidFill>
                  <a:srgbClr val="047857"/>
                </a:solidFill>
                <a:latin typeface="Arial"/>
              </a:defRPr>
            </a:pPr>
            <a:r>
              <a:t>62% AVG MARGIN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66544"/>
            <a:ext cx="4718304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Catalog Margin Health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2423160"/>
            <a:ext cx="4718304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14600"/>
            <a:ext cx="4718304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Automated Profit Margin Segmentation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Hero Anchor SKU Tracking (≥ 60%)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Low-Stock Scarcity Warning (&lt; 20 Units)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10528" y="1792224"/>
            <a:ext cx="1463040" cy="23774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900" b="1">
                <a:solidFill>
                  <a:srgbClr val="047857"/>
                </a:solidFill>
                <a:latin typeface="Arial"/>
              </a:defRPr>
            </a:pPr>
            <a:r>
              <a:t>94/100 VELOCITY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066544"/>
            <a:ext cx="4718304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Trend Velocity Radar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10528" y="2423160"/>
            <a:ext cx="4718304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514600"/>
            <a:ext cx="4718304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Real-Time Velocity Index Tracking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Regional Viral Sound Surges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Early Trend Lifecycle 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605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4306824"/>
            <a:ext cx="1463040" cy="23774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900" b="1">
                <a:solidFill>
                  <a:srgbClr val="047857"/>
                </a:solidFill>
                <a:latin typeface="Arial"/>
              </a:defRPr>
            </a:pPr>
            <a:r>
              <a:t>100%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581144"/>
            <a:ext cx="4718304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Creative AI Throughput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937760"/>
            <a:ext cx="4718304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029200"/>
            <a:ext cx="4718304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Zero-Hallucination Ad Script Synthesis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Automated 3-Second Hook Generation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Dual English &amp; Roman Urdu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1605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10528" y="4306824"/>
            <a:ext cx="1463040" cy="23774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900" b="1">
                <a:solidFill>
                  <a:srgbClr val="047857"/>
                </a:solidFill>
                <a:latin typeface="Arial"/>
              </a:defRPr>
            </a:pPr>
            <a:r>
              <a:t>OPTIMAL CADENCE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4581144"/>
            <a:ext cx="4718304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Cadence Balance Audit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0528" y="4937760"/>
            <a:ext cx="4718304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5029200"/>
            <a:ext cx="4718304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70/20/10 Balance Meter Compliance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Single-SKU Saturation Detection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Unified Calendar Dispatch Queue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29184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47857"/>
                </a:solidFill>
                <a:latin typeface="Arial"/>
              </a:defRPr>
            </a:pPr>
            <a:r>
              <a:t>07. CORE MODULES: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Arial"/>
              </a:defRPr>
            </a:pPr>
            <a:r>
              <a:t>Intelligent Product Catalog &amp; Margin Economics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Algorithmic categorization safeguarding commercial ad spend and merchant profitability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852160" cy="1499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1755648"/>
            <a:ext cx="1024128" cy="2194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850" b="1">
                <a:solidFill>
                  <a:srgbClr val="047857"/>
                </a:solidFill>
                <a:latin typeface="Arial"/>
              </a:defRPr>
            </a:pPr>
            <a:r>
              <a:t>HERO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93392"/>
            <a:ext cx="5522976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Hero Anchor Tier [ ≥ 60% Margin ]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304288"/>
            <a:ext cx="55229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59152"/>
            <a:ext cx="5522976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Primary Paid Advertising Target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Maximum Profit Margin Generator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5852160" cy="1499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3383280"/>
            <a:ext cx="1170432" cy="2194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850" b="1">
                <a:solidFill>
                  <a:srgbClr val="047857"/>
                </a:solidFill>
                <a:latin typeface="Arial"/>
              </a:defRPr>
            </a:pPr>
            <a:r>
              <a:t>GROWTH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621024"/>
            <a:ext cx="5522976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Growth Driver Tier [ 40% – 59%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931920"/>
            <a:ext cx="55229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986784"/>
            <a:ext cx="5522976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Balanced Organic Engagement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High-Volume Volume Driver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01184"/>
            <a:ext cx="5852160" cy="1499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5010912"/>
            <a:ext cx="1024128" cy="2194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850" b="1">
                <a:solidFill>
                  <a:srgbClr val="047857"/>
                </a:solidFill>
                <a:latin typeface="Arial"/>
              </a:defRPr>
            </a:pPr>
            <a:r>
              <a:t>CLEARANCE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248656"/>
            <a:ext cx="5522976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Clearance &amp; Scarcity Tier [ &lt; 20 Units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5559552"/>
            <a:ext cx="55229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614416"/>
            <a:ext cx="5522976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Automated FOMO &amp; Flash Sale Copy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Working Capital Cash Recovery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1645920"/>
            <a:ext cx="4572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atalog_margin_boxes_17902234715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755648"/>
            <a:ext cx="4297680" cy="429768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132320" y="6016752"/>
            <a:ext cx="402336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/>
          <a:lstStyle/>
          <a:p>
            <a:pPr algn="ctr">
              <a:defRPr sz="950" b="1">
                <a:solidFill>
                  <a:srgbClr val="047857"/>
                </a:solidFill>
                <a:latin typeface="Arial"/>
              </a:defRPr>
            </a:pPr>
            <a:r>
              <a:t>MARGIN-DRIVEN SKU CLASSIFICATION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29184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47857"/>
                </a:solidFill>
                <a:latin typeface="Arial"/>
              </a:defRPr>
            </a:pPr>
            <a:r>
              <a:t>08. CORE MODULES: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Arial"/>
              </a:defRPr>
            </a:pPr>
            <a:r>
              <a:t>Live Trend Intelligence &amp; Cultural Virality Radar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Continuous scraping and algorithmic pairing of trending social narratives with inventory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852160" cy="1499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1755648"/>
            <a:ext cx="877824" cy="2194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850" b="1">
                <a:solidFill>
                  <a:srgbClr val="047857"/>
                </a:solidFill>
                <a:latin typeface="Arial"/>
              </a:defRPr>
            </a:pPr>
            <a:r>
              <a:t>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93392"/>
            <a:ext cx="5522976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Cross-Platform Signal Scraping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304288"/>
            <a:ext cx="55229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59152"/>
            <a:ext cx="5522976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TikTok &amp; Instagram Viral Audio Ingestion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Google Trends Regional Surge 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5852160" cy="1499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3383280"/>
            <a:ext cx="950976" cy="2194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850" b="1">
                <a:solidFill>
                  <a:srgbClr val="047857"/>
                </a:solidFill>
                <a:latin typeface="Arial"/>
              </a:defRPr>
            </a:pPr>
            <a:r>
              <a:t>VELOCITY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621024"/>
            <a:ext cx="5522976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Velocity &amp; Saturation Scoring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931920"/>
            <a:ext cx="55229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986784"/>
            <a:ext cx="5522976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Real-Time Growth Acceleration Math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Early-Stage Window Capitalization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01184"/>
            <a:ext cx="5852160" cy="1499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5010912"/>
            <a:ext cx="877824" cy="2194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850" b="1">
                <a:solidFill>
                  <a:srgbClr val="047857"/>
                </a:solidFill>
                <a:latin typeface="Arial"/>
              </a:defRPr>
            </a:pPr>
            <a:r>
              <a:t>PAIRING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248656"/>
            <a:ext cx="5522976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Automated Semantic Product Pairing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5559552"/>
            <a:ext cx="55229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614416"/>
            <a:ext cx="5522976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Direct Keyword-to-SKU Cross-Referencing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Grounded Cultural Storytelling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1645920"/>
            <a:ext cx="4572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rend_radar_ai_17902234913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755648"/>
            <a:ext cx="4297680" cy="429768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132320" y="6016752"/>
            <a:ext cx="402336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/>
          <a:lstStyle/>
          <a:p>
            <a:pPr algn="ctr">
              <a:defRPr sz="950" b="1">
                <a:solidFill>
                  <a:srgbClr val="047857"/>
                </a:solidFill>
                <a:latin typeface="Arial"/>
              </a:defRPr>
            </a:pPr>
            <a:r>
              <a:t>REAL-TIME VIRALITY RADAR TELEMETRY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29184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47857"/>
                </a:solidFill>
                <a:latin typeface="Arial"/>
              </a:defRPr>
            </a:pPr>
            <a:r>
              <a:t>09. CORE MODULES: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Arial"/>
              </a:defRPr>
            </a:pPr>
            <a:r>
              <a:t>Multi-Pillar Autonomous Campaign Planner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4 distinct marketing angles synthesized simultaneously for unified omnichannel dominance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4203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2267712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47857"/>
                </a:solidFill>
                <a:latin typeface="Arial"/>
              </a:defRPr>
            </a:pPr>
            <a:r>
              <a:t>Pillar 1: HERO ANCHOR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240280"/>
            <a:ext cx="23225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rial"/>
              </a:defRPr>
            </a:pPr>
            <a:r>
              <a:t>Hero Product Blitz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017520"/>
            <a:ext cx="22677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154680"/>
            <a:ext cx="232257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</a:t>
            </a:r>
            <a:r>
              <a:rPr sz="1200" b="1">
                <a:solidFill>
                  <a:srgbClr val="0F172A"/>
                </a:solidFill>
                <a:latin typeface="Arial"/>
              </a:rPr>
              <a:t>Focus on ≥ 60% Margin SKUs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</a:t>
            </a:r>
            <a:r>
              <a:rPr sz="1200" b="1">
                <a:solidFill>
                  <a:srgbClr val="0F172A"/>
                </a:solidFill>
                <a:latin typeface="Arial"/>
              </a:rPr>
              <a:t>Maximum Paid ROAS Objective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</a:t>
            </a:r>
            <a:r>
              <a:rPr sz="1200" b="1">
                <a:solidFill>
                  <a:srgbClr val="0F172A"/>
                </a:solidFill>
                <a:latin typeface="Arial"/>
              </a:rPr>
              <a:t>Direct Brand Value Proposition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8144" y="1645920"/>
            <a:ext cx="254203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75304" y="1828800"/>
            <a:ext cx="2267712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47857"/>
                </a:solidFill>
                <a:latin typeface="Arial"/>
              </a:defRPr>
            </a:pPr>
            <a:r>
              <a:t>Pillar 2: CONVERSION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240280"/>
            <a:ext cx="23225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rial"/>
              </a:defRPr>
            </a:pPr>
            <a:r>
              <a:t>Direct Response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75304" y="3017520"/>
            <a:ext cx="22677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3154680"/>
            <a:ext cx="232257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</a:t>
            </a:r>
            <a:r>
              <a:rPr sz="1200" b="1">
                <a:solidFill>
                  <a:srgbClr val="0F172A"/>
                </a:solidFill>
                <a:latin typeface="Arial"/>
              </a:rPr>
              <a:t>Urgent Problem-Solution Framing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</a:t>
            </a:r>
            <a:r>
              <a:rPr sz="1200" b="1">
                <a:solidFill>
                  <a:srgbClr val="0F172A"/>
                </a:solidFill>
                <a:latin typeface="Arial"/>
              </a:rPr>
              <a:t>High-Converting Pain/Gain Scripts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</a:t>
            </a:r>
            <a:r>
              <a:rPr sz="1200" b="1">
                <a:solidFill>
                  <a:srgbClr val="0F172A"/>
                </a:solidFill>
                <a:latin typeface="Arial"/>
              </a:rPr>
              <a:t>Clear Frictionless Action Triggers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645920"/>
            <a:ext cx="254203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1928" y="1828800"/>
            <a:ext cx="2267712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47857"/>
                </a:solidFill>
                <a:latin typeface="Arial"/>
              </a:defRPr>
            </a:pPr>
            <a:r>
              <a:t>Pillar 3: VIRALITY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2240280"/>
            <a:ext cx="23225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rial"/>
              </a:defRPr>
            </a:pPr>
            <a:r>
              <a:t>Cultural Trend Hijack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81928" y="3017520"/>
            <a:ext cx="22677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3154680"/>
            <a:ext cx="232257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</a:t>
            </a:r>
            <a:r>
              <a:rPr sz="1200" b="1">
                <a:solidFill>
                  <a:srgbClr val="0F172A"/>
                </a:solidFill>
                <a:latin typeface="Arial"/>
              </a:rPr>
              <a:t>Viral Meme &amp; Audio Integration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</a:t>
            </a:r>
            <a:r>
              <a:rPr sz="1200" b="1">
                <a:solidFill>
                  <a:srgbClr val="0F172A"/>
                </a:solidFill>
                <a:latin typeface="Arial"/>
              </a:rPr>
              <a:t>Algorithmic Audience Magnet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</a:t>
            </a:r>
            <a:r>
              <a:rPr sz="1200" b="1">
                <a:solidFill>
                  <a:srgbClr val="0F172A"/>
                </a:solidFill>
                <a:latin typeface="Arial"/>
              </a:rPr>
              <a:t>Exponential Organic Impressions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51392" y="1645920"/>
            <a:ext cx="254203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88552" y="1828800"/>
            <a:ext cx="2267712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47857"/>
                </a:solidFill>
                <a:latin typeface="Arial"/>
              </a:defRPr>
            </a:pPr>
            <a:r>
              <a:t>Pillar 4: BUNDLE AOV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240280"/>
            <a:ext cx="23225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rial"/>
              </a:defRPr>
            </a:pPr>
            <a:r>
              <a:t>High-Margin Bundling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88552" y="3017520"/>
            <a:ext cx="22677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3154680"/>
            <a:ext cx="232257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</a:t>
            </a:r>
            <a:r>
              <a:rPr sz="1200" b="1">
                <a:solidFill>
                  <a:srgbClr val="0F172A"/>
                </a:solidFill>
                <a:latin typeface="Arial"/>
              </a:rPr>
              <a:t>Average Order Value (AOV) Boost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</a:t>
            </a:r>
            <a:r>
              <a:rPr sz="1200" b="1">
                <a:solidFill>
                  <a:srgbClr val="0F172A"/>
                </a:solidFill>
                <a:latin typeface="Arial"/>
              </a:rPr>
              <a:t>Complementary Inventory Pairs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</a:t>
            </a:r>
            <a:r>
              <a:rPr sz="1200" b="1">
                <a:solidFill>
                  <a:srgbClr val="0F172A"/>
                </a:solidFill>
                <a:latin typeface="Arial"/>
              </a:rPr>
              <a:t>Enhanced Customer Perceived Value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29184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47857"/>
                </a:solidFill>
                <a:latin typeface="Arial"/>
              </a:defRPr>
            </a:pPr>
            <a:r>
              <a:t>10. CORE MODULES: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Arial"/>
              </a:defRPr>
            </a:pPr>
            <a:r>
              <a:t>Creative AI Studio &amp; Grounded Prompt Engineering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Structured video storyboarding eliminating generic copy and hallucinated claims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852160" cy="1499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1755648"/>
            <a:ext cx="1170432" cy="2194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850" b="1">
                <a:solidFill>
                  <a:srgbClr val="047857"/>
                </a:solidFill>
                <a:latin typeface="Arial"/>
              </a:defRPr>
            </a:pPr>
            <a:r>
              <a:t>HOOK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93392"/>
            <a:ext cx="5522976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3-Second Scroll-Stopping Hooks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304288"/>
            <a:ext cx="55229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59152"/>
            <a:ext cx="5522976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Visual + Text Pattern Interrupts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Optimized for TikTok / Reels / Shorts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5852160" cy="1499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3383280"/>
            <a:ext cx="1097280" cy="2194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850" b="1">
                <a:solidFill>
                  <a:srgbClr val="047857"/>
                </a:solidFill>
                <a:latin typeface="Arial"/>
              </a:defRPr>
            </a:pPr>
            <a:r>
              <a:t>STORYBOARD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621024"/>
            <a:ext cx="5522976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Scene-by-Scene Visual Directing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931920"/>
            <a:ext cx="55229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986784"/>
            <a:ext cx="5522976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Explicit B-Roll Visual Directives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Actor On-Screen Action Guides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01184"/>
            <a:ext cx="5852160" cy="1499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5010912"/>
            <a:ext cx="950976" cy="2194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850" b="1">
                <a:solidFill>
                  <a:srgbClr val="047857"/>
                </a:solidFill>
                <a:latin typeface="Arial"/>
              </a:defRPr>
            </a:pPr>
            <a:r>
              <a:t>VERACITY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248656"/>
            <a:ext cx="5522976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Deterministic Grounding Guardrails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5559552"/>
            <a:ext cx="55229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614416"/>
            <a:ext cx="5522976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Strict Verified Product Feature Injection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Zero Hallucinated Technical Specs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1645920"/>
            <a:ext cx="4572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reative_ai_studio_17902235140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755648"/>
            <a:ext cx="4297680" cy="429768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132320" y="6016752"/>
            <a:ext cx="402336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/>
          <a:lstStyle/>
          <a:p>
            <a:pPr algn="ctr">
              <a:defRPr sz="950" b="1">
                <a:solidFill>
                  <a:srgbClr val="047857"/>
                </a:solidFill>
                <a:latin typeface="Arial"/>
              </a:defRPr>
            </a:pPr>
            <a:r>
              <a:t>PRODUCTION AI VIDEO STORYBOARDING STUDIO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29184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47857"/>
                </a:solidFill>
                <a:latin typeface="Arial"/>
              </a:defRPr>
            </a:pPr>
            <a:r>
              <a:t>11. CORE MODULES: LOCALIZATION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Arial"/>
              </a:defRPr>
            </a:pPr>
            <a:r>
              <a:t>Localized Urdu Engine &amp; Dynamic Cadence Calendar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Authentic cultural resonance combined with automated anti-fatigue scheduling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852160" cy="1499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1755648"/>
            <a:ext cx="1170432" cy="2194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850" b="1">
                <a:solidFill>
                  <a:srgbClr val="047857"/>
                </a:solidFill>
                <a:latin typeface="Arial"/>
              </a:defRPr>
            </a:pPr>
            <a:r>
              <a:t>URDU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93392"/>
            <a:ext cx="5522976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Dual-Script Regional Localization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304288"/>
            <a:ext cx="55229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59152"/>
            <a:ext cx="5522976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Conversational Roman Urdu Copy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Authentic Urdu Nastaliq Typography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5852160" cy="1499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3383280"/>
            <a:ext cx="1316736" cy="2194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850" b="1">
                <a:solidFill>
                  <a:srgbClr val="047857"/>
                </a:solidFill>
                <a:latin typeface="Arial"/>
              </a:defRPr>
            </a:pPr>
            <a:r>
              <a:t>CADENCE METER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621024"/>
            <a:ext cx="5522976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70/20/10 Content Balance Meter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931920"/>
            <a:ext cx="55229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986784"/>
            <a:ext cx="5522976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70% Value-Add Educational Content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20% Direct Hard-Sell / 10% Viral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01184"/>
            <a:ext cx="5852160" cy="1499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5010912"/>
            <a:ext cx="1097280" cy="2194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850" b="1">
                <a:solidFill>
                  <a:srgbClr val="047857"/>
                </a:solidFill>
                <a:latin typeface="Arial"/>
              </a:defRPr>
            </a:pPr>
            <a:r>
              <a:t>SCHEDULING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248656"/>
            <a:ext cx="5522976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Anti-Fatigue Saturation Protection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5559552"/>
            <a:ext cx="55229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614416"/>
            <a:ext cx="5522976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Automated Single-SKU Frequency Caps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✦  </a:t>
            </a:r>
            <a:r>
              <a:rPr sz="1150" b="1">
                <a:solidFill>
                  <a:srgbClr val="0F172A"/>
                </a:solidFill>
                <a:latin typeface="Arial"/>
              </a:rPr>
              <a:t>Multi-Channel Social Scheduling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1645920"/>
            <a:ext cx="4572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editorial_calendar_dispatch_17902235453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755648"/>
            <a:ext cx="4297680" cy="429768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132320" y="6016752"/>
            <a:ext cx="402336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/>
          <a:lstStyle/>
          <a:p>
            <a:pPr algn="ctr">
              <a:defRPr sz="950" b="1">
                <a:solidFill>
                  <a:srgbClr val="047857"/>
                </a:solidFill>
                <a:latin typeface="Arial"/>
              </a:defRPr>
            </a:pPr>
            <a:r>
              <a:t>OMNICHANNEL EDITORIAL CALENDAR &amp; DISPATCH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29184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47857"/>
                </a:solidFill>
                <a:latin typeface="Arial"/>
              </a:defRPr>
            </a:pPr>
            <a:r>
              <a:t>12. 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Arial"/>
              </a:defRPr>
            </a:pPr>
            <a:r>
              <a:t>Technical Evaluation, Impact &amp; Future Vision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Internship project achievements and future enterprise growth vectors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1792224"/>
            <a:ext cx="1097280" cy="23774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900" b="1">
                <a:solidFill>
                  <a:srgbClr val="047857"/>
                </a:solidFill>
                <a:latin typeface="Arial"/>
              </a:defRPr>
            </a:pPr>
            <a:r>
              <a:t>FULL-STACK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66544"/>
            <a:ext cx="4718304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Production-Grade Delivery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2423160"/>
            <a:ext cx="4718304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14600"/>
            <a:ext cx="4718304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React 18 + FastAPI + Supabase + Gemini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100% Production Ready (Zero Mock Bypass)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High-Concurrency AsyncIO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10528" y="1792224"/>
            <a:ext cx="1097280" cy="23774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900" b="1">
                <a:solidFill>
                  <a:srgbClr val="047857"/>
                </a:solidFill>
                <a:latin typeface="Arial"/>
              </a:defRPr>
            </a:pPr>
            <a:r>
              <a:t>ROI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066544"/>
            <a:ext cx="4718304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Measurable Commercial 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10528" y="2423160"/>
            <a:ext cx="4718304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514600"/>
            <a:ext cx="4718304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90% Reduction in Campaign Creation Time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Guaranteed Margin-Grounded Ad Spend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Elimination of Negative-Margin Ad Waste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605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4306824"/>
            <a:ext cx="950976" cy="23774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900" b="1">
                <a:solidFill>
                  <a:srgbClr val="047857"/>
                </a:solidFill>
                <a:latin typeface="Arial"/>
              </a:defRPr>
            </a:pPr>
            <a:r>
              <a:t>PHASE 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581144"/>
            <a:ext cx="4718304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Autonomous Social API Dispatch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937760"/>
            <a:ext cx="4718304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029200"/>
            <a:ext cx="4718304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Direct Meta Graph &amp; TikTok Marketing APIs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Single-Click Automated Campaign Publishing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Live Social Ad Spend Tracking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1605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10528" y="4306824"/>
            <a:ext cx="1024128" cy="23774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18288"/>
          <a:lstStyle/>
          <a:p>
            <a:pPr algn="ctr">
              <a:defRPr sz="900" b="1">
                <a:solidFill>
                  <a:srgbClr val="047857"/>
                </a:solidFill>
                <a:latin typeface="Arial"/>
              </a:defRPr>
            </a:pPr>
            <a:r>
              <a:t>PHASE III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4581144"/>
            <a:ext cx="4718304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Self-Optimizing Feedback Loops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0528" y="4937760"/>
            <a:ext cx="4718304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5029200"/>
            <a:ext cx="4718304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Closed-Loop ROAS Telemetry Feedback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Automated Creative A/B Variant Testing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✦  </a:t>
            </a:r>
            <a:r>
              <a:rPr sz="1200" b="1">
                <a:solidFill>
                  <a:srgbClr val="0F172A"/>
                </a:solidFill>
                <a:latin typeface="Arial"/>
              </a:rPr>
              <a:t>Predictive Virality Machine Learning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